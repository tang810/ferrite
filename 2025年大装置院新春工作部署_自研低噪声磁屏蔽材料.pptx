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7794" r:id="rId2"/>
  </p:sldIdLst>
  <p:sldSz cx="12192000" cy="6858000"/>
  <p:notesSz cx="7099300" cy="10234613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2" userDrawn="1">
          <p15:clr>
            <a:srgbClr val="A4A3A4"/>
          </p15:clr>
        </p15:guide>
        <p15:guide id="2" pos="7278" userDrawn="1">
          <p15:clr>
            <a:srgbClr val="A4A3A4"/>
          </p15:clr>
        </p15:guide>
        <p15:guide id="3" orient="horz" pos="813" userDrawn="1">
          <p15:clr>
            <a:srgbClr val="A4A3A4"/>
          </p15:clr>
        </p15:guide>
        <p15:guide id="5" orient="horz" pos="37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FFFF"/>
    <a:srgbClr val="0000CC"/>
    <a:srgbClr val="1D50A2"/>
    <a:srgbClr val="ABBDDD"/>
    <a:srgbClr val="0119FE"/>
    <a:srgbClr val="193884"/>
    <a:srgbClr val="3A3AB9"/>
    <a:srgbClr val="0728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33" autoAdjust="0"/>
    <p:restoredTop sz="90806" autoAdjust="0"/>
  </p:normalViewPr>
  <p:slideViewPr>
    <p:cSldViewPr snapToGrid="0" showGuides="1">
      <p:cViewPr varScale="1">
        <p:scale>
          <a:sx n="96" d="100"/>
          <a:sy n="96" d="100"/>
        </p:scale>
        <p:origin x="852" y="90"/>
      </p:cViewPr>
      <p:guideLst>
        <p:guide pos="432"/>
        <p:guide pos="7278"/>
        <p:guide orient="horz" pos="813"/>
        <p:guide orient="horz" pos="376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78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3508"/>
          </a:xfrm>
          <a:prstGeom prst="rect">
            <a:avLst/>
          </a:prstGeom>
        </p:spPr>
        <p:txBody>
          <a:bodyPr vert="horz" lIns="94752" tIns="47377" rIns="94752" bIns="47377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6" y="0"/>
            <a:ext cx="3076363" cy="513508"/>
          </a:xfrm>
          <a:prstGeom prst="rect">
            <a:avLst/>
          </a:prstGeom>
        </p:spPr>
        <p:txBody>
          <a:bodyPr vert="horz" lIns="94752" tIns="47377" rIns="94752" bIns="47377" rtlCol="0"/>
          <a:lstStyle>
            <a:lvl1pPr algn="r">
              <a:defRPr sz="1200"/>
            </a:lvl1pPr>
          </a:lstStyle>
          <a:p>
            <a:fld id="{C601AA7F-3044-438C-8B03-54D0453B54BE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721106"/>
            <a:ext cx="3076363" cy="513507"/>
          </a:xfrm>
          <a:prstGeom prst="rect">
            <a:avLst/>
          </a:prstGeom>
        </p:spPr>
        <p:txBody>
          <a:bodyPr vert="horz" lIns="94752" tIns="47377" rIns="94752" bIns="47377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6" y="9721106"/>
            <a:ext cx="3076363" cy="513507"/>
          </a:xfrm>
          <a:prstGeom prst="rect">
            <a:avLst/>
          </a:prstGeom>
        </p:spPr>
        <p:txBody>
          <a:bodyPr vert="horz" lIns="94752" tIns="47377" rIns="94752" bIns="47377" rtlCol="0" anchor="b"/>
          <a:lstStyle>
            <a:lvl1pPr algn="r">
              <a:defRPr sz="1200"/>
            </a:lvl1pPr>
          </a:lstStyle>
          <a:p>
            <a:fld id="{855D26D2-B6DD-4384-AEA6-8068C7DC69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3508"/>
          </a:xfrm>
          <a:prstGeom prst="rect">
            <a:avLst/>
          </a:prstGeom>
        </p:spPr>
        <p:txBody>
          <a:bodyPr vert="horz" lIns="94752" tIns="47377" rIns="94752" bIns="47377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6" y="0"/>
            <a:ext cx="3076363" cy="513508"/>
          </a:xfrm>
          <a:prstGeom prst="rect">
            <a:avLst/>
          </a:prstGeom>
        </p:spPr>
        <p:txBody>
          <a:bodyPr vert="horz" lIns="94752" tIns="47377" rIns="94752" bIns="47377" rtlCol="0"/>
          <a:lstStyle>
            <a:lvl1pPr algn="r">
              <a:defRPr sz="1200"/>
            </a:lvl1pPr>
          </a:lstStyle>
          <a:p>
            <a:fld id="{9383A1F4-B63D-4184-A89D-2E46A94932A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2" tIns="47377" rIns="94752" bIns="47377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1" y="4925409"/>
            <a:ext cx="5679440" cy="4029879"/>
          </a:xfrm>
          <a:prstGeom prst="rect">
            <a:avLst/>
          </a:prstGeom>
        </p:spPr>
        <p:txBody>
          <a:bodyPr vert="horz" lIns="94752" tIns="47377" rIns="94752" bIns="47377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721106"/>
            <a:ext cx="3076363" cy="513507"/>
          </a:xfrm>
          <a:prstGeom prst="rect">
            <a:avLst/>
          </a:prstGeom>
        </p:spPr>
        <p:txBody>
          <a:bodyPr vert="horz" lIns="94752" tIns="47377" rIns="94752" bIns="47377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6" y="9721106"/>
            <a:ext cx="3076363" cy="513507"/>
          </a:xfrm>
          <a:prstGeom prst="rect">
            <a:avLst/>
          </a:prstGeom>
        </p:spPr>
        <p:txBody>
          <a:bodyPr vert="horz" lIns="94752" tIns="47377" rIns="94752" bIns="47377" rtlCol="0" anchor="b"/>
          <a:lstStyle>
            <a:lvl1pPr algn="r">
              <a:defRPr sz="1200"/>
            </a:lvl1pPr>
          </a:lstStyle>
          <a:p>
            <a:fld id="{3331A36F-42B4-4698-A17E-BC46F3BF5DD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C7BD6-53E9-634A-B1CE-E72AC75520D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947A1-6ED6-4A14-A2B4-B78C3566706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2025/2/18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52FF3-46D7-418A-B6FB-9F5E23702DB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836712"/>
            <a:ext cx="3403600" cy="107950"/>
          </a:xfrm>
          <a:prstGeom prst="rect">
            <a:avLst/>
          </a:prstGeom>
          <a:solidFill>
            <a:srgbClr val="0728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800" dirty="0">
              <a:solidFill>
                <a:prstClr val="white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3360739" y="887512"/>
            <a:ext cx="2692400" cy="0"/>
          </a:xfrm>
          <a:prstGeom prst="line">
            <a:avLst/>
          </a:prstGeom>
          <a:ln w="28575">
            <a:solidFill>
              <a:srgbClr val="0728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90650" y="1543792"/>
            <a:ext cx="10569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800" dirty="0">
              <a:solidFill>
                <a:prstClr val="black"/>
              </a:solidFill>
              <a:ea typeface="微软雅黑" panose="020B0503020204020204" pitchFamily="34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 userDrawn="1"/>
        </p:nvSpPr>
        <p:spPr bwMode="auto">
          <a:xfrm>
            <a:off x="11719122" y="44625"/>
            <a:ext cx="327013" cy="2769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0" tIns="0" rIns="0" bIns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 </a:t>
            </a:r>
            <a:fld id="{035A294C-AFF2-4F65-9DB0-D412D01521E6}" type="slidenum">
              <a:rPr lang="en-US" altLang="zh-CN" sz="18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‹#›</a:t>
            </a:fld>
            <a:endParaRPr lang="en-US" altLang="zh-CN" sz="1800" b="1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65C18-D4E0-4882-862B-7764D9F18B74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D394E-A5E5-4FF8-BBE2-4E71DF6558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A7850A0D-6CA9-4723-9A45-6330DCA568E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2025/2/18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ea typeface="微软雅黑" panose="020B0503020204020204" pitchFamily="34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313916-D2EA-41BA-B4EC-3997F5DB327F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灯片编号占位符 5"/>
          <p:cNvSpPr txBox="1"/>
          <p:nvPr userDrawn="1"/>
        </p:nvSpPr>
        <p:spPr>
          <a:xfrm>
            <a:off x="11544299" y="6356349"/>
            <a:ext cx="533401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EFB52FF3-46D7-418A-B6FB-9F5E23702DBE}" type="slidenum">
              <a:rPr lang="zh-CN" altLang="en-US" sz="2000" b="1" smtClean="0">
                <a:solidFill>
                  <a:srgbClr val="0728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zh-CN" altLang="en-US" b="1" dirty="0">
              <a:solidFill>
                <a:srgbClr val="0728C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mc:AlternateContent xmlns:mc="http://schemas.openxmlformats.org/markup-compatibility/2006" xmlns:p14="http://schemas.microsoft.com/office/powerpoint/2010/main">
    <mc:Choice Requires="p14">
      <p:transition p14:dur="3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823C3DB1-9DEB-4E9A-B9D0-098136A836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888" y="4360704"/>
            <a:ext cx="3272010" cy="154313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0727" y="1571045"/>
            <a:ext cx="11899227" cy="246939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科学问题：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存在问题：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  <a:spcAft>
                <a:spcPts val="300"/>
              </a:spcAft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年度计划：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研制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铁氧体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非晶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超导块材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种磁屏蔽材料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磁噪声降低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33%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，满足终期验收指标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394200" y="4193540"/>
            <a:ext cx="2873375" cy="255968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2090" y="4193540"/>
            <a:ext cx="4026535" cy="255206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标题 4"/>
          <p:cNvSpPr/>
          <p:nvPr/>
        </p:nvSpPr>
        <p:spPr>
          <a:xfrm>
            <a:off x="0" y="892175"/>
            <a:ext cx="11004550" cy="6788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000" b="1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2800" kern="0" dirty="0">
                <a:sym typeface="+mn-ea"/>
              </a:rPr>
              <a:t>①预研关键技术：</a:t>
            </a:r>
            <a:r>
              <a:rPr lang="zh-CN" altLang="en-US" sz="28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自研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低噪声磁屏蔽材料</a:t>
            </a:r>
            <a:endParaRPr lang="zh-CN" altLang="en-US" sz="2800" dirty="0"/>
          </a:p>
        </p:txBody>
      </p:sp>
      <p:sp>
        <p:nvSpPr>
          <p:cNvPr id="20" name="矩形 19"/>
          <p:cNvSpPr/>
          <p:nvPr/>
        </p:nvSpPr>
        <p:spPr>
          <a:xfrm>
            <a:off x="2179967" y="6444252"/>
            <a:ext cx="2302582" cy="28012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kumimoji="0" lang="zh-CN" altLang="en-US" sz="1600" b="1" i="0" u="none" strike="noStrike" kern="120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铁氧体磁屏蔽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研制</a:t>
            </a:r>
            <a:endParaRPr kumimoji="0" lang="zh-CN" altLang="en-US" sz="1600" b="1" i="0" u="none" strike="noStrike" kern="1200" cap="none" spc="0" normalizeH="0" baseline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750905" y="6405979"/>
            <a:ext cx="2242548" cy="3029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非晶纳米晶</a:t>
            </a:r>
            <a:r>
              <a:rPr kumimoji="0" lang="zh-CN" altLang="en-US" sz="1600" b="1" i="0" u="none" strike="noStrike" kern="1200" cap="none" spc="0" normalizeH="0" baseline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磁屏蔽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研制</a:t>
            </a:r>
            <a:endParaRPr kumimoji="0" lang="zh-CN" altLang="en-US" sz="1600" b="1" i="0" u="none" strike="noStrike" kern="1200" cap="none" spc="0" normalizeH="0" baseline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7423150" y="4197985"/>
            <a:ext cx="4609465" cy="2547620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74" y="130256"/>
            <a:ext cx="12190730" cy="892810"/>
          </a:xfrm>
        </p:spPr>
        <p:txBody>
          <a:bodyPr/>
          <a:lstStyle/>
          <a:p>
            <a:pPr algn="ctr"/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（二）</a:t>
            </a:r>
            <a:r>
              <a:rPr lang="zh-CN" altLang="en-US" sz="3600" b="1" kern="0" dirty="0">
                <a:solidFill>
                  <a:srgbClr val="0728C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大设施项目、合肥实验室项目攻关</a:t>
            </a:r>
            <a:endParaRPr lang="en-US" altLang="zh-CN" sz="3600" b="1" kern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923857A-9212-4495-91E2-4E30E2B78184}"/>
              </a:ext>
            </a:extLst>
          </p:cNvPr>
          <p:cNvSpPr txBox="1"/>
          <p:nvPr/>
        </p:nvSpPr>
        <p:spPr>
          <a:xfrm>
            <a:off x="1550504" y="1590959"/>
            <a:ext cx="10257182" cy="1138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①目前铁氧体磁屏蔽磁噪声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0.15fT/Hz</a:t>
            </a:r>
            <a:r>
              <a:rPr lang="en-US" altLang="zh-CN" sz="1800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1/2 </a:t>
            </a:r>
            <a:r>
              <a:rPr lang="zh-CN" altLang="en-US" sz="18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，研制复合铁氧体磁屏蔽材料，开展磁滞损耗机理研究</a:t>
            </a:r>
            <a:endParaRPr lang="en-US" altLang="zh-CN" sz="18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②研制大尺寸非晶磁屏蔽，探索剩磁均匀性和差分磁噪声与非晶特性的依赖关系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spcAft>
                <a:spcPts val="3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制备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YBCO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超导块材，探究基于</a:t>
            </a:r>
            <a:r>
              <a:rPr lang="en-US" altLang="zh-CN" sz="18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Anderson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磁通蠕动理论的超导材料磁噪声模型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3513AC-ECE5-47F4-B808-4342F3B26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974" y="4233562"/>
            <a:ext cx="2812774" cy="21087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CE85EEB-C79F-4088-92CF-864227277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87" y="5491369"/>
            <a:ext cx="1636644" cy="12274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C282010-EAAD-4B76-9D92-C439F3C67D5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34" y="4245493"/>
            <a:ext cx="2126973" cy="11964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1A8210C-0AA2-43CA-8336-C8CD925FC08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882" y="4234070"/>
            <a:ext cx="1580322" cy="2107096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D816F284-87B9-481B-BBCE-002657FD0553}"/>
              </a:ext>
            </a:extLst>
          </p:cNvPr>
          <p:cNvSpPr txBox="1"/>
          <p:nvPr/>
        </p:nvSpPr>
        <p:spPr>
          <a:xfrm>
            <a:off x="1550506" y="2852387"/>
            <a:ext cx="100033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铁氧体的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磁滞损耗仍过大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②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大尺寸非晶磁屏蔽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制备困难；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③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YBCO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超导磁屏蔽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磁噪声机理不明</a:t>
            </a:r>
            <a:endParaRPr lang="zh-CN" altLang="en-US" sz="20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3552AD7-AFD5-4902-9863-C9A98A1974FF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7" r="2029"/>
          <a:stretch/>
        </p:blipFill>
        <p:spPr>
          <a:xfrm rot="5400000">
            <a:off x="7672374" y="4207961"/>
            <a:ext cx="1202703" cy="123491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913B3C71-0235-4692-A3BD-E43C661792C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9" t="9565" r="12585" b="3044"/>
          <a:stretch/>
        </p:blipFill>
        <p:spPr>
          <a:xfrm>
            <a:off x="7467847" y="5466452"/>
            <a:ext cx="1606579" cy="1259775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F5913394-2D8B-48E0-94DA-C2A32D6BB16F}"/>
              </a:ext>
            </a:extLst>
          </p:cNvPr>
          <p:cNvSpPr txBox="1"/>
          <p:nvPr/>
        </p:nvSpPr>
        <p:spPr>
          <a:xfrm>
            <a:off x="9124122" y="6231044"/>
            <a:ext cx="2922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YBCO</a:t>
            </a: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超导块状磁屏蔽研制</a:t>
            </a:r>
            <a:endParaRPr lang="zh-CN" altLang="en-US" dirty="0"/>
          </a:p>
        </p:txBody>
      </p:sp>
      <p:sp>
        <p:nvSpPr>
          <p:cNvPr id="42" name="Rectangle 10" descr="未标题-3"/>
          <p:cNvSpPr/>
          <p:nvPr/>
        </p:nvSpPr>
        <p:spPr>
          <a:xfrm>
            <a:off x="635" y="5754370"/>
            <a:ext cx="12191365" cy="1103630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  <a:ln w="9525">
            <a:noFill/>
          </a:ln>
        </p:spPr>
        <p:txBody>
          <a:bodyPr lIns="162000" tIns="34289" rIns="81000" bIns="81000" anchor="ctr" anchorCtr="0"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研究磁屏蔽材料磁噪声机理，实现磁噪声</a:t>
            </a:r>
            <a:r>
              <a:rPr lang="en-US" altLang="zh-CN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0.10 fT/Hz</a:t>
            </a:r>
            <a:r>
              <a:rPr lang="en-US" altLang="zh-CN" b="1" baseline="30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1/2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 marL="0" indent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支撑磁场测量和惯性测量最终验收指标，继续保持国际领先水平</a:t>
            </a:r>
            <a:endParaRPr lang="zh-CN" altLang="en-US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c568868-5cc3-4cb4-8a80-45502f72f115"/>
  <p:tag name="COMMONDATA" val="eyJoZGlkIjoiZmY5OWM2ZmMyZWY5ZjdkZjM5MmFkN2FiYzVjYzdkN2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186</Words>
  <Application>Microsoft Office PowerPoint</Application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（二）大设施项目、合肥实验室项目攻关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陆吉玺</dc:creator>
  <cp:lastModifiedBy>博文 孙</cp:lastModifiedBy>
  <cp:revision>2015</cp:revision>
  <cp:lastPrinted>2021-11-18T13:07:00Z</cp:lastPrinted>
  <dcterms:created xsi:type="dcterms:W3CDTF">2016-11-17T04:12:00Z</dcterms:created>
  <dcterms:modified xsi:type="dcterms:W3CDTF">2025-02-18T13:46:20Z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09E915191D2646C79F6A109DE4EB949C_13</vt:lpwstr>
  </property>
  <property fmtid="{D5CDD505-2E9C-101B-9397-08002B2CF9AE}" pid="3" name="KSOProductBuildVer">
    <vt:lpwstr>2052-12.1.0.19770</vt:lpwstr>
  </property>
</Properties>
</file>